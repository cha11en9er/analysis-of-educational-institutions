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embeddedFontLst>
    <p:embeddedFont>
      <p:font typeface="Barlow" panose="020B0604020202020204" charset="0"/>
      <p:regular r:id="rId11"/>
    </p:embeddedFont>
    <p:embeddedFont>
      <p:font typeface="Spline Sans Bold" panose="020B0604020202020204" charset="0"/>
      <p:regular r:id="rId12"/>
    </p:embeddedFont>
    <p:embeddedFont>
      <p:font typeface="Calibri" panose="020F0502020204030204" pitchFamily="34" charset="0"/>
      <p:regular r:id="rId13"/>
      <p:bold r:id="rId14"/>
      <p:italic r:id="rId15"/>
      <p:boldItalic r:id="rId16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49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5177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1738387"/>
            <a:ext cx="8455075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Разработка стартапа: Анализ школ Саратова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0023" y="2475607"/>
            <a:ext cx="8521154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Единая платформа для сравнения школ: рейтинги, ЕГЭ, отзывы, карта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0023" y="2934593"/>
            <a:ext cx="8063954" cy="11534"/>
          </a:xfrm>
          <a:prstGeom prst="rect">
            <a:avLst/>
          </a:prstGeom>
          <a:solidFill>
            <a:srgbClr val="E0E4E6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0023" y="3158207"/>
            <a:ext cx="8521154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Разработчик — студент мехмата СГУ: </a:t>
            </a:r>
            <a:r>
              <a:rPr lang="en-US" sz="120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Потапов Мирослав Андреевич</a:t>
            </a:r>
            <a:endParaRPr lang="en-US" sz="1200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0944" y="4733868"/>
            <a:ext cx="2553056" cy="4096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1614" y="549027"/>
            <a:ext cx="8414891" cy="421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Воспользуйтесь нашим проектом по QR-коду</a:t>
            </a:r>
            <a:endParaRPr lang="en-US" sz="2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614" y="1363340"/>
            <a:ext cx="3009900" cy="306288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16859" y="2533129"/>
            <a:ext cx="4700215" cy="723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Отсканируйте код и откройте сайт на телефоне. </a:t>
            </a:r>
            <a:r>
              <a:rPr lang="en-US" sz="1150" dirty="0" err="1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Можно</a:t>
            </a: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</a:t>
            </a:r>
            <a:r>
              <a:rPr lang="ru-RU" sz="1150" b="1" dirty="0" smtClean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посмотреть</a:t>
            </a:r>
            <a:r>
              <a:rPr lang="ru-RU" sz="1150" dirty="0" smtClean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</a:t>
            </a:r>
            <a:r>
              <a:rPr lang="en-US" sz="1150" b="1" dirty="0" err="1" smtClean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проект</a:t>
            </a:r>
            <a:r>
              <a:rPr lang="en-US" sz="1150" b="1" dirty="0" smtClean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</a:t>
            </a:r>
            <a:r>
              <a:rPr lang="en-US" sz="115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прямо сейчас</a:t>
            </a: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: карта школ, фильтры, карточки с рейтингами и детальная страница любой школы.</a:t>
            </a:r>
            <a:endParaRPr lang="en-US" sz="115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0944" y="4727728"/>
            <a:ext cx="2553056" cy="40963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18766" y="322585"/>
            <a:ext cx="4485456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Главная страница: карта и поиск</a:t>
            </a:r>
            <a:endParaRPr lang="en-US" sz="1850" dirty="0"/>
          </a:p>
        </p:txBody>
      </p:sp>
      <p:sp>
        <p:nvSpPr>
          <p:cNvPr id="4" name="Text 1"/>
          <p:cNvSpPr/>
          <p:nvPr/>
        </p:nvSpPr>
        <p:spPr>
          <a:xfrm>
            <a:off x="1318766" y="4171280"/>
            <a:ext cx="6506468" cy="64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13000"/>
              </a:lnSpc>
              <a:buSzPct val="100000"/>
              <a:buChar char="•"/>
            </a:pPr>
            <a:r>
              <a:rPr lang="en-US" sz="80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128 школ</a:t>
            </a:r>
            <a:r>
              <a:rPr lang="en-US" sz="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Саратова на интерактивной карте</a:t>
            </a:r>
            <a:endParaRPr lang="en-US" sz="800" dirty="0"/>
          </a:p>
          <a:p>
            <a:pPr marL="342900" indent="-342900" algn="l">
              <a:lnSpc>
                <a:spcPct val="113000"/>
              </a:lnSpc>
              <a:buSzPct val="100000"/>
              <a:buChar char="•"/>
            </a:pPr>
            <a:r>
              <a:rPr lang="en-US" sz="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Поиск по названию и адресу, сортировка по итоговому рейтингу</a:t>
            </a:r>
            <a:endParaRPr lang="en-US" sz="800" dirty="0"/>
          </a:p>
          <a:p>
            <a:pPr marL="342900" indent="-342900" algn="l">
              <a:lnSpc>
                <a:spcPct val="113000"/>
              </a:lnSpc>
              <a:buSzPct val="100000"/>
              <a:buChar char="•"/>
            </a:pPr>
            <a:r>
              <a:rPr lang="en-US" sz="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Фильтры: стадион, бассейн, год постройки</a:t>
            </a:r>
            <a:endParaRPr lang="en-US" sz="800" dirty="0"/>
          </a:p>
          <a:p>
            <a:pPr marL="342900" indent="-342900" algn="l">
              <a:lnSpc>
                <a:spcPct val="113000"/>
              </a:lnSpc>
              <a:buSzPct val="100000"/>
              <a:buChar char="•"/>
            </a:pPr>
            <a:r>
              <a:rPr lang="en-US" sz="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Цвет маркеров — уровень школы относительно других (топ 10%, 30%, 60%)</a:t>
            </a:r>
            <a:endParaRPr lang="en-US" sz="8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0944" y="4698028"/>
            <a:ext cx="2553056" cy="409632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8766" y="793405"/>
            <a:ext cx="6431280" cy="320173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92659" y="286717"/>
            <a:ext cx="3815135" cy="287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Детальная карточка школы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392659" y="4066208"/>
            <a:ext cx="6358607" cy="7905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11000"/>
              </a:lnSpc>
              <a:buSzPct val="100000"/>
              <a:buChar char="•"/>
            </a:pPr>
            <a:r>
              <a:rPr lang="en-US" sz="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Итоговый балл, место в рейтинге, район</a:t>
            </a:r>
            <a:endParaRPr lang="en-US" sz="800" dirty="0"/>
          </a:p>
          <a:p>
            <a:pPr marL="342900" indent="-342900" algn="l">
              <a:lnSpc>
                <a:spcPct val="111000"/>
              </a:lnSpc>
              <a:buSzPct val="100000"/>
              <a:buChar char="•"/>
            </a:pPr>
            <a:r>
              <a:rPr lang="en-US" sz="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ЕГЭ, олимпиады, оценки 2ГИС и Яндекс</a:t>
            </a:r>
            <a:endParaRPr lang="en-US" sz="800" dirty="0"/>
          </a:p>
          <a:p>
            <a:pPr marL="342900" indent="-342900" algn="l">
              <a:lnSpc>
                <a:spcPct val="111000"/>
              </a:lnSpc>
              <a:buSzPct val="100000"/>
              <a:buChar char="•"/>
            </a:pPr>
            <a:r>
              <a:rPr lang="en-US" sz="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Паспорт здания: год, этажность, площадь, инфраструктура</a:t>
            </a:r>
            <a:endParaRPr lang="en-US" sz="800" dirty="0"/>
          </a:p>
          <a:p>
            <a:pPr marL="342900" indent="-342900" algn="l">
              <a:lnSpc>
                <a:spcPct val="111000"/>
              </a:lnSpc>
              <a:buSzPct val="100000"/>
              <a:buChar char="•"/>
            </a:pPr>
            <a:r>
              <a:rPr lang="en-US" sz="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Радар-диаграмма: ЕГЭ, олимпиады, учителя, оснащённость, атмосфера, спорт</a:t>
            </a:r>
            <a:endParaRPr lang="en-US" sz="800" dirty="0"/>
          </a:p>
          <a:p>
            <a:pPr marL="342900" indent="-342900" algn="l">
              <a:lnSpc>
                <a:spcPct val="111000"/>
              </a:lnSpc>
              <a:buSzPct val="100000"/>
              <a:buChar char="•"/>
            </a:pPr>
            <a:r>
              <a:rPr lang="en-US" sz="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Темы из отзывов: что чаще всего упоминают родители и ученики</a:t>
            </a:r>
            <a:endParaRPr lang="en-US" sz="8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0944" y="4733868"/>
            <a:ext cx="2553056" cy="409632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2659" y="762001"/>
            <a:ext cx="6073620" cy="30583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1614" y="578421"/>
            <a:ext cx="5916811" cy="421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Почему данным можно верить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702543" y="1923529"/>
            <a:ext cx="1687711" cy="210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Источники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02543" y="2224162"/>
            <a:ext cx="2252067" cy="2169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Все данные из </a:t>
            </a:r>
            <a:r>
              <a:rPr lang="en-US" sz="115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официальных и проверяемых источников</a:t>
            </a: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: карточки школ на </a:t>
            </a:r>
            <a:r>
              <a:rPr lang="en-US" sz="115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Госуслугах</a:t>
            </a: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(инфраструктура, документы), </a:t>
            </a:r>
            <a:r>
              <a:rPr lang="en-US" sz="115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отзывы реальных людей</a:t>
            </a: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— 2ГИС и Яндекс.Карты, данные из </a:t>
            </a:r>
            <a:r>
              <a:rPr lang="en-US" sz="115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открытых документов</a:t>
            </a: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и публичных реестров.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3445966" y="1923529"/>
            <a:ext cx="1687711" cy="210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Масштаб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3445966" y="2224162"/>
            <a:ext cx="2252067" cy="2085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2000"/>
              </a:lnSpc>
              <a:buSzPct val="100000"/>
              <a:buChar char="•"/>
            </a:pPr>
            <a:r>
              <a:rPr lang="en-US" sz="115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120+</a:t>
            </a: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школ в базе</a:t>
            </a:r>
            <a:endParaRPr lang="en-US" sz="1150" dirty="0"/>
          </a:p>
          <a:p>
            <a:pPr marL="342900" indent="-342900" algn="l">
              <a:lnSpc>
                <a:spcPct val="132000"/>
              </a:lnSpc>
              <a:buSzPct val="100000"/>
              <a:buChar char="•"/>
            </a:pPr>
            <a:r>
              <a:rPr lang="en-US" sz="115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10 000+</a:t>
            </a: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отзывов (2ГИС / Яндекс)</a:t>
            </a:r>
            <a:endParaRPr lang="en-US" sz="1150" dirty="0"/>
          </a:p>
          <a:p>
            <a:pPr marL="342900" indent="-342900" algn="l">
              <a:lnSpc>
                <a:spcPct val="132000"/>
              </a:lnSpc>
              <a:buSzPct val="100000"/>
              <a:buChar char="•"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Геокодирование адресов через Яндекс</a:t>
            </a:r>
            <a:endParaRPr lang="en-US" sz="1150" dirty="0"/>
          </a:p>
          <a:p>
            <a:pPr marL="342900" indent="-342900" algn="l">
              <a:lnSpc>
                <a:spcPct val="132000"/>
              </a:lnSpc>
              <a:buSzPct val="100000"/>
              <a:buChar char="•"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Ручная финальная проверка данных перед публикацией</a:t>
            </a:r>
            <a:endParaRPr lang="en-US" sz="1150" dirty="0"/>
          </a:p>
        </p:txBody>
      </p:sp>
      <p:sp>
        <p:nvSpPr>
          <p:cNvPr id="13" name="Text 8"/>
          <p:cNvSpPr/>
          <p:nvPr/>
        </p:nvSpPr>
        <p:spPr>
          <a:xfrm>
            <a:off x="6189390" y="1923529"/>
            <a:ext cx="1687711" cy="210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Прозрачность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6189390" y="2224162"/>
            <a:ext cx="2252067" cy="964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Мы не придумываем цифры — собираем, сверяем и показываем, откуда каждый показатель.</a:t>
            </a:r>
            <a:endParaRPr lang="en-US" sz="1150" dirty="0"/>
          </a:p>
        </p:txBody>
      </p:sp>
      <p:pic>
        <p:nvPicPr>
          <p:cNvPr id="46" name="Рисунок 4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0944" y="4733868"/>
            <a:ext cx="2553056" cy="40963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6313" y="401538"/>
            <a:ext cx="3671888" cy="401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Честно о минусах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727174" y="1108733"/>
            <a:ext cx="2069827" cy="200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Неравномерные данные</a:t>
            </a: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727174" y="1520577"/>
            <a:ext cx="3613324" cy="6726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Рейтинг </a:t>
            </a:r>
            <a:r>
              <a:rPr lang="en-US" sz="110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выглядит странно</a:t>
            </a: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не потому, что формула плохая, а потому что </a:t>
            </a:r>
            <a:r>
              <a:rPr lang="en-US" sz="110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по разным школам разный объём данных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4860652" y="1114620"/>
            <a:ext cx="1698724" cy="200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Неполные карточки</a:t>
            </a: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4860652" y="1520577"/>
            <a:ext cx="3613324" cy="4484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Часть школ </a:t>
            </a:r>
            <a:r>
              <a:rPr lang="en-US" sz="110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не заполняет</a:t>
            </a: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карточки на Госуслугах или заполняет </a:t>
            </a:r>
            <a:r>
              <a:rPr lang="en-US" sz="110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неполно и по-разному</a:t>
            </a:r>
            <a:endParaRPr lang="en-US" sz="1100" dirty="0"/>
          </a:p>
        </p:txBody>
      </p:sp>
      <p:sp>
        <p:nvSpPr>
          <p:cNvPr id="10" name="Text 5"/>
          <p:cNvSpPr/>
          <p:nvPr/>
        </p:nvSpPr>
        <p:spPr>
          <a:xfrm>
            <a:off x="727174" y="2582838"/>
            <a:ext cx="1815926" cy="200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Нейтральные оценки</a:t>
            </a:r>
            <a:endParaRPr lang="en-US" dirty="0"/>
          </a:p>
        </p:txBody>
      </p:sp>
      <p:sp>
        <p:nvSpPr>
          <p:cNvPr id="11" name="Text 6"/>
          <p:cNvSpPr/>
          <p:nvPr/>
        </p:nvSpPr>
        <p:spPr>
          <a:xfrm>
            <a:off x="727174" y="2938463"/>
            <a:ext cx="3613324" cy="4484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Где данных мало — школа получает </a:t>
            </a:r>
            <a:r>
              <a:rPr lang="en-US" sz="110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нейтральные оценки</a:t>
            </a: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а не реальную картину</a:t>
            </a:r>
            <a:endParaRPr lang="en-US" sz="1100" dirty="0"/>
          </a:p>
        </p:txBody>
      </p:sp>
      <p:sp>
        <p:nvSpPr>
          <p:cNvPr id="13" name="Text 7"/>
          <p:cNvSpPr/>
          <p:nvPr/>
        </p:nvSpPr>
        <p:spPr>
          <a:xfrm>
            <a:off x="4860652" y="2567770"/>
            <a:ext cx="1607344" cy="200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Потенциал</a:t>
            </a:r>
            <a:endParaRPr lang="en-US" dirty="0"/>
          </a:p>
        </p:txBody>
      </p:sp>
      <p:sp>
        <p:nvSpPr>
          <p:cNvPr id="14" name="Text 8"/>
          <p:cNvSpPr/>
          <p:nvPr/>
        </p:nvSpPr>
        <p:spPr>
          <a:xfrm>
            <a:off x="4860652" y="2938463"/>
            <a:ext cx="3613324" cy="6726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Если бы все школы заполняли данные одинаково</a:t>
            </a: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рейтинг и карта выглядели бы </a:t>
            </a:r>
            <a:r>
              <a:rPr lang="en-US" sz="110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иначе и справедливее</a:t>
            </a:r>
            <a:endParaRPr lang="en-US" sz="1100" dirty="0"/>
          </a:p>
        </p:txBody>
      </p:sp>
      <p:pic>
        <p:nvPicPr>
          <p:cNvPr id="18" name="Рисунок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0944" y="4733868"/>
            <a:ext cx="2553056" cy="40963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1614" y="561529"/>
            <a:ext cx="3832622" cy="421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Планы развития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531614" y="1282452"/>
            <a:ext cx="303758" cy="1898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01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31614" y="1521544"/>
            <a:ext cx="3965600" cy="19050"/>
          </a:xfrm>
          <a:prstGeom prst="rect">
            <a:avLst/>
          </a:prstGeom>
          <a:solidFill>
            <a:srgbClr val="16FFBB"/>
          </a:solidFill>
          <a:ln/>
        </p:spPr>
      </p:sp>
      <p:sp>
        <p:nvSpPr>
          <p:cNvPr id="5" name="Text 3"/>
          <p:cNvSpPr/>
          <p:nvPr/>
        </p:nvSpPr>
        <p:spPr>
          <a:xfrm>
            <a:off x="531614" y="1635547"/>
            <a:ext cx="2071613" cy="210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Региональный уровень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31614" y="1936179"/>
            <a:ext cx="3965600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Масштабирование на другие </a:t>
            </a:r>
            <a:r>
              <a:rPr lang="en-US" sz="1150" dirty="0" err="1" smtClean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города</a:t>
            </a:r>
            <a:r>
              <a:rPr lang="ru-RU" sz="1150" dirty="0" smtClean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</a:t>
            </a:r>
            <a:r>
              <a:rPr lang="en-US" sz="1150" dirty="0" smtClean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</a:t>
            </a: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области и регионы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646712" y="1282452"/>
            <a:ext cx="303758" cy="1898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02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46712" y="1521544"/>
            <a:ext cx="3965674" cy="19050"/>
          </a:xfrm>
          <a:prstGeom prst="rect">
            <a:avLst/>
          </a:prstGeom>
          <a:solidFill>
            <a:srgbClr val="29DDDA"/>
          </a:solidFill>
          <a:ln/>
        </p:spPr>
      </p:sp>
      <p:sp>
        <p:nvSpPr>
          <p:cNvPr id="9" name="Text 7"/>
          <p:cNvSpPr/>
          <p:nvPr/>
        </p:nvSpPr>
        <p:spPr>
          <a:xfrm>
            <a:off x="4646712" y="1635547"/>
            <a:ext cx="1974726" cy="210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Договоры со школами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46712" y="1936179"/>
            <a:ext cx="3965674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Помочь заполнять и актуализировать данные на Госуслугах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31614" y="2681734"/>
            <a:ext cx="303758" cy="1898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03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31614" y="2920826"/>
            <a:ext cx="3965600" cy="19050"/>
          </a:xfrm>
          <a:prstGeom prst="rect">
            <a:avLst/>
          </a:prstGeom>
          <a:solidFill>
            <a:srgbClr val="37A7E7"/>
          </a:solidFill>
          <a:ln/>
        </p:spPr>
      </p:sp>
      <p:sp>
        <p:nvSpPr>
          <p:cNvPr id="13" name="Text 11"/>
          <p:cNvSpPr/>
          <p:nvPr/>
        </p:nvSpPr>
        <p:spPr>
          <a:xfrm>
            <a:off x="531614" y="3034829"/>
            <a:ext cx="1687711" cy="210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Монетизация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1614" y="3335462"/>
            <a:ext cx="3965600" cy="723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Реклама канцтоваров, репетиторов, образовательных сервисов (ненавязчиво, по контексту)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646712" y="2681734"/>
            <a:ext cx="303758" cy="1898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04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646712" y="2920826"/>
            <a:ext cx="3965674" cy="19050"/>
          </a:xfrm>
          <a:prstGeom prst="rect">
            <a:avLst/>
          </a:prstGeom>
          <a:solidFill>
            <a:srgbClr val="091231"/>
          </a:solidFill>
          <a:ln/>
        </p:spPr>
      </p:sp>
      <p:sp>
        <p:nvSpPr>
          <p:cNvPr id="17" name="Text 15"/>
          <p:cNvSpPr/>
          <p:nvPr/>
        </p:nvSpPr>
        <p:spPr>
          <a:xfrm>
            <a:off x="4646712" y="3034829"/>
            <a:ext cx="3200251" cy="210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ru-RU" sz="1300" b="1" dirty="0" smtClean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Увеличение данных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46712" y="3335462"/>
            <a:ext cx="3965674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ru-RU" sz="1150" dirty="0" smtClean="0">
                <a:solidFill>
                  <a:srgbClr val="E0E4E6"/>
                </a:solidFill>
              </a:rPr>
              <a:t>Детальная информация о поступлении учеников. Какие вузы, факультеты, направления</a:t>
            </a:r>
            <a:endParaRPr lang="en-US" sz="1150" dirty="0"/>
          </a:p>
        </p:txBody>
      </p:sp>
      <p:pic>
        <p:nvPicPr>
          <p:cNvPr id="20" name="Рисунок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0435" y="4733868"/>
            <a:ext cx="2553056" cy="40963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0938" y="382860"/>
            <a:ext cx="4698281" cy="381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Нам важна обратная связь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80938" y="1848669"/>
            <a:ext cx="4349279" cy="415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Пишите </a:t>
            </a:r>
            <a:r>
              <a:rPr lang="en-US" sz="105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всё, что думаете о сайте</a:t>
            </a:r>
            <a:r>
              <a:rPr 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 Форма обратной связи — </a:t>
            </a:r>
            <a:r>
              <a:rPr lang="en-US" sz="105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прямо на сайте</a:t>
            </a:r>
            <a:r>
              <a:rPr 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(кнопка на главной странице).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80938" y="2374478"/>
            <a:ext cx="4349279" cy="959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6000"/>
              </a:lnSpc>
              <a:buSzPct val="100000"/>
              <a:buChar char="•"/>
            </a:pPr>
            <a:r>
              <a:rPr lang="en-US" sz="105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Доработки</a:t>
            </a:r>
            <a:endParaRPr lang="en-US" sz="1050" dirty="0"/>
          </a:p>
          <a:p>
            <a:pPr marL="342900" indent="-342900" algn="l">
              <a:lnSpc>
                <a:spcPct val="126000"/>
              </a:lnSpc>
              <a:buSzPct val="100000"/>
              <a:buChar char="•"/>
            </a:pPr>
            <a:r>
              <a:rPr lang="en-US" sz="105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Минусы</a:t>
            </a:r>
            <a:endParaRPr lang="en-US" sz="1050" dirty="0"/>
          </a:p>
          <a:p>
            <a:pPr marL="342900" indent="-342900" algn="l">
              <a:lnSpc>
                <a:spcPct val="126000"/>
              </a:lnSpc>
              <a:buSzPct val="100000"/>
              <a:buChar char="•"/>
            </a:pPr>
            <a:r>
              <a:rPr lang="en-US" sz="105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Плюсы</a:t>
            </a:r>
            <a:endParaRPr lang="en-US" sz="1050" dirty="0"/>
          </a:p>
          <a:p>
            <a:pPr marL="342900" indent="-342900" algn="l">
              <a:lnSpc>
                <a:spcPct val="126000"/>
              </a:lnSpc>
              <a:buSzPct val="100000"/>
              <a:buChar char="•"/>
            </a:pPr>
            <a:r>
              <a:rPr lang="en-US" sz="105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Пожелания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80938" y="3444329"/>
            <a:ext cx="4349279" cy="415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Помогите сделать проект лучше — ваш фидбек пойдёт в следующие версии.</a:t>
            </a:r>
            <a:endParaRPr lang="en-US" sz="1050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0944" y="4733868"/>
            <a:ext cx="2553056" cy="409632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2720" y="764604"/>
            <a:ext cx="3129280" cy="360151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411</Words>
  <Application>Microsoft Office PowerPoint</Application>
  <PresentationFormat>Экран (16:9)</PresentationFormat>
  <Paragraphs>63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4" baseType="lpstr">
      <vt:lpstr>Barlow</vt:lpstr>
      <vt:lpstr>Arial</vt:lpstr>
      <vt:lpstr>Spline Sans Light</vt:lpstr>
      <vt:lpstr>Spline Sans Bold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Miroslav</dc:creator>
  <cp:lastModifiedBy>Miroslav</cp:lastModifiedBy>
  <cp:revision>4</cp:revision>
  <dcterms:created xsi:type="dcterms:W3CDTF">2026-06-04T05:11:14Z</dcterms:created>
  <dcterms:modified xsi:type="dcterms:W3CDTF">2026-06-04T17:27:57Z</dcterms:modified>
</cp:coreProperties>
</file>